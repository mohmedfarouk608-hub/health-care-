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eza" initials="T" lastIdx="1" clrIdx="0">
    <p:extLst>
      <p:ext uri="{19B8F6BF-5375-455C-9EA6-DF929625EA0E}">
        <p15:presenceInfo xmlns:p15="http://schemas.microsoft.com/office/powerpoint/2012/main" userId="Trez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D4E5C">
                <a:alpha val="100000"/>
              </a:srgbClr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SVM (RBF)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33.549999999999997</c:v>
                </c:pt>
                <c:pt idx="1">
                  <c:v>33.24</c:v>
                </c:pt>
                <c:pt idx="2">
                  <c:v>38.49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68-4F81-92E2-8BA806CF9B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05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4750" y="161925"/>
            <a:ext cx="4598670" cy="3578542"/>
          </a:xfrm>
          <a:prstGeom prst="ellipse">
            <a:avLst/>
          </a:prstGeom>
          <a:solidFill>
            <a:srgbClr val="1D4E5C">
              <a:alpha val="6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265920" y="4046220"/>
            <a:ext cx="2926080" cy="2926080"/>
          </a:xfrm>
          <a:prstGeom prst="ellipse">
            <a:avLst/>
          </a:prstGeom>
          <a:solidFill>
            <a:srgbClr val="E08E4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4900"/>
            <a:ext cx="2065020" cy="2057400"/>
          </a:xfrm>
          <a:prstGeom prst="ellipse">
            <a:avLst/>
          </a:prstGeom>
          <a:solidFill>
            <a:srgbClr val="1D4E5C">
              <a:alpha val="7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  •  ADVANCED DATA ANALYSIS  •  BATCH 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Test Results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system that predicts a patient's initial test result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/ Abnormal / Inconclusive) at the moment of admission.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00584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Eng. Huda Hemdan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Advanced Data Analysis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3F828-730B-1BBD-2722-E112E58B96CA}"/>
              </a:ext>
            </a:extLst>
          </p:cNvPr>
          <p:cNvSpPr txBox="1"/>
          <p:nvPr/>
        </p:nvSpPr>
        <p:spPr>
          <a:xfrm>
            <a:off x="5589932" y="4861329"/>
            <a:ext cx="143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PREPARED BY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39738A-D1A9-DF3B-8EF2-16600997A828}"/>
              </a:ext>
            </a:extLst>
          </p:cNvPr>
          <p:cNvSpPr txBox="1"/>
          <p:nvPr/>
        </p:nvSpPr>
        <p:spPr>
          <a:xfrm>
            <a:off x="5530928" y="5217758"/>
            <a:ext cx="250106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Youssef </a:t>
            </a:r>
            <a:r>
              <a:rPr lang="en-US" dirty="0" err="1">
                <a:solidFill>
                  <a:schemeClr val="bg1"/>
                </a:solidFill>
              </a:rPr>
              <a:t>Kromal</a:t>
            </a:r>
            <a:r>
              <a:rPr lang="en-US" dirty="0">
                <a:solidFill>
                  <a:schemeClr val="bg1"/>
                </a:solidFill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Mohamed Hossam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Alhassan Mohamed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Mahmoud Mohamed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Mohamed Farouk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545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928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success criteria &amp; the business questions we set out to answer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41448"/>
            <a:ext cx="699516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4780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Insights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8254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view of 55K admissions across patients, conditions &amp; billing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699516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10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75818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condition, admission type, age or insurer drive outcomes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06824"/>
            <a:ext cx="699516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690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comparing classifiers to predict the test result at admission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239512"/>
            <a:ext cx="699516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330952"/>
            <a:ext cx="457200" cy="457200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276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Recommendations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56235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tells us — and what hospital staff should do with it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0" y="164592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E9F3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58200" y="1773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55,000+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0" y="315468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E9F3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58200" y="32826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Classes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29600" y="46634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E9F3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58200" y="47914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38.5%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Admissions Data to a Prediction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organizations generate large volumes of patient and admission data. Analyzing it can reveal patterns in patient characteristics and test outcomes — patterns that, if predictable, could help hospital staff triage incoming patients more effectively.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6400800" cy="2606040"/>
          </a:xfrm>
          <a:prstGeom prst="roundRect">
            <a:avLst>
              <a:gd name="adj" fmla="val 4211"/>
            </a:avLst>
          </a:prstGeom>
          <a:solidFill>
            <a:srgbClr val="1D4E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520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862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system that predicts a patient's initial Test Result (Normal / Abnormal / Inconclusive) at admission time — using only data available at check-in — to help staff prioritize medical follow-up.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60920" y="1554480"/>
            <a:ext cx="4297680" cy="4297680"/>
          </a:xfrm>
          <a:prstGeom prst="roundRect">
            <a:avLst>
              <a:gd name="adj" fmla="val 2553"/>
            </a:avLst>
          </a:prstGeom>
          <a:solidFill>
            <a:srgbClr val="E9F3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KPI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606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prioritization of medical review for incoming patients.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80960" y="3520440"/>
            <a:ext cx="36576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Metric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above the random baseline of 33.3% (3 balanced classes).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4892040"/>
            <a:ext cx="36576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5029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Normal, Abnormal, or Inconclusive.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Business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1D4E5C">
              <a:alpha val="75000"/>
            </a:srgbClr>
          </a:solidFill>
          <a:ln w="12700">
            <a:solidFill>
              <a:srgbClr val="2C68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947672"/>
            <a:ext cx="457200" cy="45720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85623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relationship between Medical Condition and Test Results?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92240" y="16916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1D4E5C">
              <a:alpha val="75000"/>
            </a:srgbClr>
          </a:solidFill>
          <a:ln w="12700">
            <a:solidFill>
              <a:srgbClr val="2C68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48272" y="1947672"/>
            <a:ext cx="457200" cy="45720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482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185623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Admission Type (Urgent / Emergency / Elective) affect the test outcome?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1D4E5C">
              <a:alpha val="75000"/>
            </a:srgbClr>
          </a:solidFill>
          <a:ln w="12700">
            <a:solidFill>
              <a:srgbClr val="2C68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502152"/>
            <a:ext cx="457200" cy="45720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1071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Age a significant factor in the test outcome?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324612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1D4E5C">
              <a:alpha val="75000"/>
            </a:srgbClr>
          </a:solidFill>
          <a:ln w="12700">
            <a:solidFill>
              <a:srgbClr val="2C68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8272" y="3502152"/>
            <a:ext cx="457200" cy="45720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827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41071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Insurance Provider or Hospital show any distributional bias in outcomes?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1D4E5C">
              <a:alpha val="75000"/>
            </a:srgbClr>
          </a:solidFill>
          <a:ln w="12700">
            <a:solidFill>
              <a:srgbClr val="2C68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5056632"/>
            <a:ext cx="457200" cy="45720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96519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classification model best predicts Test Results?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Overview: Admissions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11961" y="1399032"/>
            <a:ext cx="8365030" cy="4928616"/>
          </a:xfrm>
          <a:prstGeom prst="roundRect">
            <a:avLst>
              <a:gd name="adj" fmla="val 148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27000" dist="38100" dir="5400000" algn="bl" rotWithShape="0">
              <a:srgbClr val="1B2B2E">
                <a:alpha val="18000"/>
              </a:srgbClr>
            </a:outerShdw>
          </a:effectLst>
        </p:spPr>
      </p:sp>
      <p:pic>
        <p:nvPicPr>
          <p:cNvPr id="7" name="Image 0" descr="1789153732224_photo_2026-09-11_22-07-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689" y="1508760"/>
            <a:ext cx="8145574" cy="4709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 patients · $1bn total billing · $26K avg. billing per patient · 15.52 days avg. length of stay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&amp; Test Results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74398" y="1399032"/>
            <a:ext cx="8440156" cy="4928616"/>
          </a:xfrm>
          <a:prstGeom prst="roundRect">
            <a:avLst>
              <a:gd name="adj" fmla="val 148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27000" dist="38100" dir="5400000" algn="bl" rotWithShape="0">
              <a:srgbClr val="1B2B2E">
                <a:alpha val="18000"/>
              </a:srgbClr>
            </a:outerShdw>
          </a:effectLst>
        </p:spPr>
      </p:sp>
      <p:pic>
        <p:nvPicPr>
          <p:cNvPr id="7" name="Image 0" descr="1789153732225_photo_2026-09-11_22-06-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126" y="1508760"/>
            <a:ext cx="8220700" cy="4709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34K doctors · 33K hospitals · 33.4% of results come back Normal · avg. patient age 51.7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&amp; Operations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47282" y="1399032"/>
            <a:ext cx="8294388" cy="4928616"/>
          </a:xfrm>
          <a:prstGeom prst="roundRect">
            <a:avLst>
              <a:gd name="adj" fmla="val 1484"/>
            </a:avLst>
          </a:prstGeom>
          <a:solidFill>
            <a:srgbClr val="FFFFFF"/>
          </a:solidFill>
          <a:ln w="12700">
            <a:solidFill>
              <a:srgbClr val="D7E4E3"/>
            </a:solidFill>
            <a:prstDash val="solid"/>
          </a:ln>
          <a:effectLst>
            <a:outerShdw blurRad="127000" dist="38100" dir="5400000" algn="bl" rotWithShape="0">
              <a:srgbClr val="1B2B2E">
                <a:alpha val="18000"/>
              </a:srgbClr>
            </a:outerShdw>
          </a:effectLst>
        </p:spPr>
      </p:sp>
      <p:pic>
        <p:nvPicPr>
          <p:cNvPr id="7" name="Image 0" descr="1789153732226_photo_2026-09-11_22-07-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010" y="1508760"/>
            <a:ext cx="8074932" cy="4709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is broken down by condition, hospital, insurer and month — max single bill $52.76K, min $9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· Q1 &amp; Q2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 &amp; Admission Type Barely Move the Needle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9878" y="1600200"/>
            <a:ext cx="5478002" cy="4427376"/>
          </a:xfrm>
          <a:prstGeom prst="roundRect">
            <a:avLst>
              <a:gd name="adj" fmla="val 2581"/>
            </a:avLst>
          </a:prstGeom>
          <a:solidFill>
            <a:srgbClr val="E9F3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· Medical Condition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Abnormal results by condition (%)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822960" y="2468880"/>
          <a:ext cx="4800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263640" y="160020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E9F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83680" y="1828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· Admission Type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148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distribution by admission type (%)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CC012B6-D33C-9086-DFC2-22E80DDA8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30" y="2468880"/>
            <a:ext cx="5080789" cy="29708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5B173F-6A4B-9A83-F783-A29A3615D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490" y="2377440"/>
            <a:ext cx="4969661" cy="328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· Q3 &amp; Q4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and Payer Show No Real Bias Either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E9F3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· Patient Age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by test result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90" y="2318004"/>
            <a:ext cx="114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51.31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250302" y="28300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                Abnormal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84742" y="232486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51.64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6118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05092" y="2244852"/>
            <a:ext cx="1264921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51.66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8117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6235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half a year apart across all three groups — age isn't a differentiator.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E9F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1828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· Insurance &amp; Hospital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148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Abnormal-result rate by insurer (%)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47091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Population-level: insurer range is just 1.1 points. Small top-10 hospitals show wider swings, but each has only 32–44 records — too few to trust.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343E8F3-963A-77B5-E8D6-B007F361A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54" y="3346704"/>
            <a:ext cx="4466120" cy="246164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DB3B9B-86D6-D22E-192A-7199F6F87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994" y="2443163"/>
            <a:ext cx="4848532" cy="2402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Prediction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D4E5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832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Blood Type, Medical Condition,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Provider, Admission Type, Medication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383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727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02152" y="19202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3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730752" y="2194560"/>
            <a:ext cx="502920" cy="502920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3075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33832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6 categorical features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numeric Age column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08192" y="3383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7278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364224" y="19202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D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6592824" y="2194560"/>
            <a:ext cx="502920" cy="50292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9282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92824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92824" y="33832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split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43,972 training · 10,994 testing rows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970264" y="33832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7278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226296" y="19202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3F2"/>
          </a:solidFill>
          <a:ln/>
        </p:spPr>
      </p:sp>
      <p:sp>
        <p:nvSpPr>
          <p:cNvPr id="25" name="Shape 23"/>
          <p:cNvSpPr/>
          <p:nvPr/>
        </p:nvSpPr>
        <p:spPr>
          <a:xfrm>
            <a:off x="9454896" y="2194560"/>
            <a:ext cx="502920" cy="502920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5489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454896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Trained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54896" y="33832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(most-frequent class)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Support Vector Machine (RBF)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 for 3 balanced classes = 33.3% — that's the bar every real model has to clear.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Comes Out Ahead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6916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2011680"/>
            <a:ext cx="3794760" cy="3657600"/>
          </a:xfrm>
          <a:prstGeom prst="roundRect">
            <a:avLst>
              <a:gd name="adj" fmla="val 3000"/>
            </a:avLst>
          </a:prstGeom>
          <a:solidFill>
            <a:srgbClr val="E9F3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38160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063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38.49%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38862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+5.2 points over the 33.3% baseline. SVM (33.24%) essentially matched the baseline — no better than guessing.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Random Forest Performs, Class by Class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852160" cy="2057400"/>
        </p:xfrm>
        <a:graphic>
          <a:graphicData uri="http://schemas.openxmlformats.org/drawingml/2006/table">
            <a:tbl>
              <a:tblPr/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0690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and F1 hover around 0.38–0.39 for every class — balanced, but not strong.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0" y="1691640"/>
            <a:ext cx="4754880" cy="4160520"/>
          </a:xfrm>
          <a:prstGeom prst="roundRect">
            <a:avLst>
              <a:gd name="adj" fmla="val 2637"/>
            </a:avLst>
          </a:prstGeom>
          <a:solidFill>
            <a:srgbClr val="1D4E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CONFUSION MATRIX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2377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spreads its errors evenly across all three classes — it isn't collapsing toward one label. That confirms the accuracy gain over baseline is real signal, not a shortcut like “always predict Normal.”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78040" y="3931920"/>
            <a:ext cx="4114800" cy="0"/>
          </a:xfrm>
          <a:prstGeom prst="line">
            <a:avLst/>
          </a:prstGeom>
          <a:noFill/>
          <a:ln w="12700">
            <a:solidFill>
              <a:srgbClr val="2C687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78040" y="41605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the available admission-time fields carry a weak but genuine signal — enough to beat guessing, not enough for high-confidence clinical decisions on their own.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 New Patient's Test Result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E9F3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938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PATIENT AT ADMISSION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862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862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346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3346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831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315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Aetna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285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89320" y="169164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1D4E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1938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2402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Inconclusive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410712"/>
            <a:ext cx="5074920" cy="164592"/>
          </a:xfrm>
          <a:prstGeom prst="roundRect">
            <a:avLst>
              <a:gd name="adj" fmla="val 50000"/>
            </a:avLst>
          </a:prstGeom>
          <a:solidFill>
            <a:srgbClr val="0E2A30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3410712"/>
            <a:ext cx="5074920" cy="164592"/>
          </a:xfrm>
          <a:prstGeom prst="roundRect">
            <a:avLst>
              <a:gd name="adj" fmla="val 50000"/>
            </a:avLst>
          </a:prstGeom>
          <a:solidFill>
            <a:srgbClr val="E08E4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38.67%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4279392"/>
            <a:ext cx="5074920" cy="164592"/>
          </a:xfrm>
          <a:prstGeom prst="roundRect">
            <a:avLst>
              <a:gd name="adj" fmla="val 50000"/>
            </a:avLst>
          </a:prstGeom>
          <a:solidFill>
            <a:srgbClr val="0E2A3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4279392"/>
            <a:ext cx="4672551" cy="164592"/>
          </a:xfrm>
          <a:prstGeom prst="roundRect">
            <a:avLst>
              <a:gd name="adj" fmla="val 50000"/>
            </a:avLst>
          </a:prstGeom>
          <a:solidFill>
            <a:srgbClr val="E08E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936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4800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19.33%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5148072"/>
            <a:ext cx="5074920" cy="164592"/>
          </a:xfrm>
          <a:prstGeom prst="roundRect">
            <a:avLst>
              <a:gd name="adj" fmla="val 50000"/>
            </a:avLst>
          </a:prstGeom>
          <a:solidFill>
            <a:srgbClr val="0E2A3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5148072"/>
            <a:ext cx="2335672" cy="164592"/>
          </a:xfrm>
          <a:prstGeom prst="roundRect">
            <a:avLst>
              <a:gd name="adj" fmla="val 50000"/>
            </a:avLst>
          </a:prstGeom>
          <a:solidFill>
            <a:srgbClr val="E08E45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 |  NTI Batch 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E9F3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109728" cy="109728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103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condition, admission type, insurer and hospital show no meaningful relationship with test outcome at the population level — all sit within ~1–2 points of the 33.3% baseline.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172968"/>
            <a:ext cx="109728" cy="109728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0358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not a differentiator: average age is within half a year across Normal, Abnormal and Inconclusive results.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105656"/>
            <a:ext cx="109728" cy="109728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9684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strongest model (38.49%) and clears the technical success criterion, but the lift over baseline is modest.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5038344"/>
            <a:ext cx="109728" cy="109728"/>
          </a:xfrm>
          <a:prstGeom prst="ellipse">
            <a:avLst/>
          </a:prstGeom>
          <a:solidFill>
            <a:srgbClr val="1D4E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490118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performed no better than guessing (33.24%) — not a viable choice for this feature 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1D4E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240280"/>
            <a:ext cx="109728" cy="109728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2103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Random Forest as a lightweight triage assist, not a stand-alone diagnostic tool.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172968"/>
            <a:ext cx="109728" cy="109728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30358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the feature set with clinical signals (vitals, prior labs, symptoms) — the current admin-only fields cap accuracy near 38%.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4105656"/>
            <a:ext cx="109728" cy="109728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39684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Insurance/Hospital bias once more admissions per hospital are available — today's top-10 samples are too small (32–44 records) to confirm.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5038344"/>
            <a:ext cx="109728" cy="109728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490118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class-wise precision/recall in production to catch drift across Normal / Abnormal / Inconclusive.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" y="0"/>
            <a:ext cx="4219575" cy="4206235"/>
          </a:xfrm>
          <a:prstGeom prst="ellipse">
            <a:avLst/>
          </a:prstGeom>
          <a:solidFill>
            <a:srgbClr val="1D4E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017520"/>
            <a:ext cx="3840480" cy="3840480"/>
          </a:xfrm>
          <a:prstGeom prst="ellipse">
            <a:avLst/>
          </a:prstGeom>
          <a:solidFill>
            <a:srgbClr val="E08E45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1005840" cy="0"/>
          </a:xfrm>
          <a:prstGeom prst="line">
            <a:avLst/>
          </a:prstGeom>
          <a:noFill/>
          <a:ln w="38100">
            <a:solidFill>
              <a:srgbClr val="E08E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Test Results Prediction · NTI Batch 9 · Instructor: Eng. Huda Hemdan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1194</Words>
  <Application>Microsoft Office PowerPoint</Application>
  <PresentationFormat>Widescreen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farouk</cp:lastModifiedBy>
  <cp:revision>4</cp:revision>
  <dcterms:created xsi:type="dcterms:W3CDTF">2026-09-11T19:16:22Z</dcterms:created>
  <dcterms:modified xsi:type="dcterms:W3CDTF">2026-09-12T15:27:06Z</dcterms:modified>
</cp:coreProperties>
</file>